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Arial"/>
              </a:defRPr>
            </a:pPr>
            <a:r>
              <a:t>Применение экзоскелетов для повышения производительности и безопасности операторов строительно-дорожных машин</a:t>
            </a:r>
          </a:p>
          <a:p>
            <a:pPr>
              <a:spcBef>
                <a:spcPts val="2000"/>
              </a:spcBef>
              <a:defRPr sz="1800">
                <a:solidFill>
                  <a:srgbClr val="6C757D"/>
                </a:solidFill>
                <a:latin typeface="Arial"/>
              </a:defRPr>
            </a:pPr>
            <a:r>
              <a:t>Технико-экономический анализ и эргономическая оценка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Проблематика и актуальность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Высокие физические нагрузки:</a:t>
            </a:r>
            <a:r>
              <a:rPr sz="1600">
                <a:solidFill>
                  <a:srgbClr val="212529"/>
                </a:solidFill>
              </a:rPr>
              <a:t> Операторы строительно-дорожных машин испытывают длительное статическое и динамическое напряжение при эксплуатации и ремонте техники.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Риск профессиональных заболеваний:</a:t>
            </a:r>
            <a:r>
              <a:rPr sz="1600">
                <a:solidFill>
                  <a:srgbClr val="212529"/>
                </a:solidFill>
              </a:rPr>
              <a:t> Опорно-двигательный аппарат (особенно поясничный и плечевой отделы) подвержен преждевременному износу и травматизму.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Снижение производительности:</a:t>
            </a:r>
            <a:r>
              <a:rPr sz="1600">
                <a:solidFill>
                  <a:srgbClr val="212529"/>
                </a:solidFill>
              </a:rPr>
              <a:t> Накопленная физическая усталость к концу смены снижает скорость выполнения операций и концентрацию внимания на 25–30%.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Классификация промышленных экзоскелетов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Пассивные экзоскелеты:</a:t>
            </a:r>
            <a:r>
              <a:rPr sz="1600">
                <a:solidFill>
                  <a:srgbClr val="212529"/>
                </a:solidFill>
              </a:rPr>
              <a:t> Использование пружин, торсионов и эластомеров. Не требуют внешних источников питания, обладают высокой надежностью на стройплощадке.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Активные экзоскелеты:</a:t>
            </a:r>
            <a:r>
              <a:rPr sz="1600">
                <a:solidFill>
                  <a:srgbClr val="212529"/>
                </a:solidFill>
              </a:rPr>
              <a:t> Оснащены электроприводами или пневмомускулами. Обеспечивают максимальное усиление, но требуют аккумуляторов и регулярного обслуживания.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Гибридные комплексы:</a:t>
            </a:r>
            <a:r>
              <a:rPr sz="1600">
                <a:solidFill>
                  <a:srgbClr val="212529"/>
                </a:solidFill>
              </a:rPr>
              <a:t> Комбинация пассивных разгрузочных элементов с интеллектуальными датчиками контроля состояния оператора.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Специфика применения на строительно-дорожной технике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Обслуживание и ремонт СДМ:</a:t>
            </a:r>
            <a:r>
              <a:rPr sz="1600">
                <a:solidFill>
                  <a:srgbClr val="212529"/>
                </a:solidFill>
              </a:rPr>
              <a:t> Подъем и удержание тяжелых узлов, монтаж навесного оборудования, работы в неудобных позах.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Компенсация вибраций:</a:t>
            </a:r>
            <a:r>
              <a:rPr sz="1600">
                <a:solidFill>
                  <a:srgbClr val="212529"/>
                </a:solidFill>
              </a:rPr>
              <a:t> Снижение передаваемой вибрационной нагрузки на суставы при управлении тяжелыми машинами.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Вспомогательные операции:</a:t>
            </a:r>
            <a:r>
              <a:rPr sz="1600">
                <a:solidFill>
                  <a:srgbClr val="212529"/>
                </a:solidFill>
              </a:rPr>
              <a:t> Строповка грузов, перемещение материалов и ручная доработка дорожного полотна.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Эргономические и технические показатели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Разгрузка поясничного отдела: Снижение компрессионной нагрузки на позвоночник на 30–40%.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Разгрузка плечевого пояса: Уменьшение мышечного напряжения при работе выше уровня груди до 50%.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Собственный вес пассивной системы: 3.2 – 5.5 кг (не вызывает быстрой утомляемости).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Время надевания/снятия: Не более 1.5–2 минут без сторонней помощи.</a:t>
            </a:r>
          </a:p>
          <a:p>
            <a:pPr>
              <a:spcAft>
                <a:spcPts val="1200"/>
              </a:spcAft>
              <a:defRPr sz="1600">
                <a:solidFill>
                  <a:srgbClr val="212529"/>
                </a:solidFill>
              </a:defRPr>
            </a:pPr>
            <a:r>
              <a:t>• Диапазон регулировок: Полная адаптация под антропометрические данные 95% операторов.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Влияние на безопасность труда и здоровье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Профилактика травматизма:</a:t>
            </a:r>
            <a:r>
              <a:rPr sz="1600">
                <a:solidFill>
                  <a:srgbClr val="212529"/>
                </a:solidFill>
              </a:rPr>
              <a:t> Предотвращение растяжений, грыж и микротравм при подъеме тяжестей.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Поддержание внимания:</a:t>
            </a:r>
            <a:r>
              <a:rPr sz="1600">
                <a:solidFill>
                  <a:srgbClr val="212529"/>
                </a:solidFill>
              </a:rPr>
              <a:t> Снижение физического истощения сохраняет реакцию оператора при работе в опасных зонах.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A2540"/>
                </a:solidFill>
              </a:rPr>
              <a:t>• Экономия фонда оплаты труда:</a:t>
            </a:r>
            <a:r>
              <a:rPr sz="1600">
                <a:solidFill>
                  <a:srgbClr val="212529"/>
                </a:solidFill>
              </a:rPr>
              <a:t> Сокращение количества больничных листов по заболеваниям ОДА на 40–45%.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Методика проведение испытаний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1. Электромиография (ЭМГ): Измерение биоэлектрической активности целевых групп мышц во время работы.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2. Хронометраж операций: Сравнительная оценка скорости сервисного обслуживания СДМ.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3. Оценка субъективного утомления: Опрос персонала по шкале Борга (RPE) до и после рабочей смены.</a:t>
            </a:r>
          </a:p>
          <a:p>
            <a:pPr>
              <a:spcAft>
                <a:spcPts val="1400"/>
              </a:spcAft>
              <a:defRPr sz="1600">
                <a:solidFill>
                  <a:srgbClr val="212529"/>
                </a:solidFill>
              </a:defRPr>
            </a:pPr>
            <a:r>
              <a:t>4. Оценка свободы движений: Проверка удобства работы в кабине и на открытых площадках.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Технико-экономические показатели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64592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32004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Без экзоскелета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С пассивным экзоскелетом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Компрессионная нагрузка L5/S1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100% (базовая)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Снижение на 35–40%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Время эффективной работы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2.5–3 часа без отдыха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До 4.5 часов без усталости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Частота микротравм персонала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Выше средней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Снижение на 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Срок окупаемости комплекта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t>8–12 месяцев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Ограничения и эксплуатационные риски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0A2540"/>
                </a:solidFill>
              </a:rPr>
              <a:t>• Стесненность в кабине:</a:t>
            </a:r>
            <a:r>
              <a:rPr sz="1600">
                <a:solidFill>
                  <a:srgbClr val="212529"/>
                </a:solidFill>
              </a:rPr>
              <a:t> Габариты экзоскелета могут создавать неудобства при управлении машиной изнутри кабины.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0A2540"/>
                </a:solidFill>
              </a:rPr>
              <a:t>• Период адаптации:</a:t>
            </a:r>
            <a:r>
              <a:rPr sz="1600">
                <a:solidFill>
                  <a:srgbClr val="212529"/>
                </a:solidFill>
              </a:rPr>
              <a:t> Требуется от 3 до 7 дней для привыкания рабочего к новым биомеханическим паттернам.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0A2540"/>
                </a:solidFill>
              </a:rPr>
              <a:t>• Климатические условия:</a:t>
            </a:r>
            <a:r>
              <a:rPr sz="1600">
                <a:solidFill>
                  <a:srgbClr val="212529"/>
                </a:solidFill>
              </a:rPr>
              <a:t> Необходимость применения специальной текстильной оснастки для работы от -40°C до +40°C.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91440" cy="7315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A2540"/>
                </a:solidFill>
                <a:latin typeface="Arial"/>
              </a:defRPr>
            </a:pPr>
            <a:r>
              <a:t>ТЕХНИЧЕСКИЙ ОТЧЕТ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12529"/>
                </a:solidFill>
                <a:latin typeface="Arial"/>
              </a:defRPr>
            </a:pPr>
            <a:r>
              <a:t>Заключение и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212529"/>
                </a:solidFill>
              </a:defRPr>
            </a:pPr>
            <a:r>
              <a:t>1. Внедрение пассивных экзоскелетов наиболее целесообразно для ремонтных и сервисных бригад СДМ.</a:t>
            </a:r>
          </a:p>
          <a:p>
            <a:pPr>
              <a:spcAft>
                <a:spcPts val="1600"/>
              </a:spcAft>
              <a:defRPr sz="1600">
                <a:solidFill>
                  <a:srgbClr val="212529"/>
                </a:solidFill>
              </a:defRPr>
            </a:pPr>
            <a:r>
              <a:t>2. Обеспечивается устойчивое снижение травматизма и повышение производительности труда на 15–20%.</a:t>
            </a:r>
          </a:p>
          <a:p>
            <a:pPr>
              <a:spcAft>
                <a:spcPts val="1600"/>
              </a:spcAft>
              <a:defRPr sz="1600">
                <a:solidFill>
                  <a:srgbClr val="212529"/>
                </a:solidFill>
              </a:defRPr>
            </a:pPr>
            <a:r>
              <a:t>3. Рекомендуется проводить поэтапное внедрение с обязательным антропометрическим подбором.</a:t>
            </a:r>
          </a:p>
          <a:p>
            <a:pPr>
              <a:spcAft>
                <a:spcPts val="1600"/>
              </a:spcAft>
              <a:defRPr sz="1600">
                <a:solidFill>
                  <a:srgbClr val="212529"/>
                </a:solidFill>
              </a:defRPr>
            </a:pPr>
            <a:r>
              <a:t>4. Перспектива: Интеграция датчиков сбора телеметрии для непрерывного контроля нагрузки персоналом.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